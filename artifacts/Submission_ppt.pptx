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ind-haven-zeta.vercel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00F2FE"/>
                </a:solidFill>
                <a:latin typeface="Segoe UI"/>
              </a:defRPr>
            </a:pPr>
            <a:r>
              <a:t>BUILD FOR GOOD HACKATHON  |  SWASTHYA TRACK</a:t>
            </a:r>
          </a:p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  <a:latin typeface="Segoe UI"/>
              </a:defRPr>
            </a:pPr>
            <a:r>
              <a:t>ML-Based Student Burnout</a:t>
            </a:r>
            <a:br/>
            <a:r>
              <a:t>Detection System</a:t>
            </a:r>
          </a:p>
          <a:p>
            <a:pPr>
              <a:spcAft>
                <a:spcPts val="3200"/>
              </a:spcAft>
              <a:defRPr sz="1500" i="1">
                <a:solidFill>
                  <a:srgbClr val="8455EF"/>
                </a:solidFill>
                <a:latin typeface="Segoe UI"/>
              </a:defRPr>
            </a:pPr>
            <a:r>
              <a:t>A Multimodal Approach Combining Psychometric, Visual &amp; Acoustic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6400800" cy="27432"/>
          </a:xfrm>
          <a:prstGeom prst="rect">
            <a:avLst/>
          </a:prstGeom>
          <a:solidFill>
            <a:srgbClr val="845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6858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Presenter: Kritika Ghosh</a:t>
            </a:r>
          </a:p>
          <a:p>
            <a:pPr>
              <a:defRPr sz="1100">
                <a:solidFill>
                  <a:srgbClr val="B5B7CD"/>
                </a:solidFill>
                <a:latin typeface="Calibri"/>
              </a:defRPr>
            </a:pPr>
            <a:r>
              <a:t>School of Computing Science Engineering &amp; AI | VIT Bhopal University</a:t>
            </a:r>
            <a:br/>
            <a:r>
              <a:t>September 2025 Submission</a:t>
            </a:r>
          </a:p>
        </p:txBody>
      </p:sp>
      <p:sp>
        <p:nvSpPr>
          <p:cNvPr id="7" name="Oval 6"/>
          <p:cNvSpPr/>
          <p:nvPr/>
        </p:nvSpPr>
        <p:spPr>
          <a:xfrm>
            <a:off x="8046720" y="1645920"/>
            <a:ext cx="3474720" cy="347472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845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321040" y="1920240"/>
            <a:ext cx="2926080" cy="2926080"/>
          </a:xfrm>
          <a:prstGeom prst="ellipse">
            <a:avLst/>
          </a:prstGeom>
          <a:solidFill>
            <a:srgbClr val="161C2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83464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SWASTHYA</a:t>
            </a:r>
            <a:br/>
            <a:r>
              <a:t>TRACK</a:t>
            </a:r>
          </a:p>
          <a:p>
            <a:pPr algn="ctr">
              <a:defRPr sz="1100">
                <a:solidFill>
                  <a:srgbClr val="B5B7CD"/>
                </a:solidFill>
                <a:latin typeface="Calibri"/>
              </a:defRPr>
            </a:pPr>
            <a:r>
              <a:t>Mental Health for Youth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Introduction — Youth Mental Health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66928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is Mental Burnout?</a:t>
            </a:r>
          </a:p>
          <a:p>
            <a:pPr>
              <a:spcAft>
                <a:spcPts val="6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t>A state of chronic academic stress resulting from prolonged study pressures, leading to:</a:t>
            </a:r>
          </a:p>
          <a:p>
            <a:pPr>
              <a:spcAft>
                <a:spcPts val="6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t>  • Emotional exhaustion &amp; severe psychological fatigue</a:t>
            </a:r>
          </a:p>
          <a:p>
            <a:pPr>
              <a:spcAft>
                <a:spcPts val="6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t>  • Marked drop in academic productivity &amp; self-efficacy</a:t>
            </a:r>
          </a:p>
          <a:p>
            <a:pPr>
              <a:spcAft>
                <a:spcPts val="6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t>  • Depersonalisation, detachment, and social withdrawal</a:t>
            </a:r>
          </a:p>
          <a:p>
            <a:pPr>
              <a:spcAft>
                <a:spcPts val="6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Why Focus on College Students?</a:t>
            </a:r>
          </a:p>
          <a:p>
            <a:pPr>
              <a:spcAft>
                <a:spcPts val="6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t>Students face unique, cumulative pressures:</a:t>
            </a:r>
          </a:p>
          <a:p>
            <a:pPr>
              <a:spcAft>
                <a:spcPts val="6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t>  • Academic workload coupled with hostel adjustments</a:t>
            </a:r>
          </a:p>
          <a:p>
            <a:pPr>
              <a:spcAft>
                <a:spcPts val="6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t>  • Burnout goes unrecognized until reaching a clinical crisis stage</a:t>
            </a:r>
          </a:p>
          <a:p>
            <a:pPr>
              <a:spcAft>
                <a:spcPts val="6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t>  • Severe lack of accessible, private, non-clinical wellness check-ins</a:t>
            </a:r>
          </a:p>
        </p:txBody>
      </p:sp>
      <p:pic>
        <p:nvPicPr>
          <p:cNvPr id="7" name="Picture 6" descr="diagnostic_terminal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Literature Review &amp;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4937760"/>
          </a:xfrm>
          <a:prstGeom prst="rect">
            <a:avLst/>
          </a:prstGeom>
          <a:solidFill>
            <a:srgbClr val="13141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8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❌ Existing Approaches — Limitations</a:t>
            </a:r>
          </a:p>
          <a:p>
            <a:pPr>
              <a:spcAft>
                <a:spcPts val="12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• Relies solely on subjective self-report questionnaires (MBI, etc.) which are highly prone to individual response bias.</a:t>
            </a:r>
          </a:p>
          <a:p>
            <a:pPr>
              <a:spcAft>
                <a:spcPts val="12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• Single-modality designs (only surveys OR only static video) fail to capture real-time physiological and behavioral fluctuations.</a:t>
            </a:r>
          </a:p>
          <a:p>
            <a:pPr>
              <a:spcAft>
                <a:spcPts val="12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• Lack of student-specific behavioral inputs (like voice tone, facial tension shifts during academic tasks).</a:t>
            </a:r>
          </a:p>
          <a:p>
            <a:pPr>
              <a:spcAft>
                <a:spcPts val="12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• High accessibility barriers — typical systems require lab equipment, expensive physical sensors, or clinical visits.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303520" cy="4937760"/>
          </a:xfrm>
          <a:prstGeom prst="rect">
            <a:avLst/>
          </a:prstGeom>
          <a:solidFill>
            <a:srgbClr val="1314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8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✅ Our Approach — Fills the Gap</a:t>
            </a:r>
          </a:p>
          <a:p>
            <a:pPr>
              <a:spcAft>
                <a:spcPts val="12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• Fuses three separate streams: Psychometric Survey + Facial Biometrics (EAR/MAR) + Voice VADER Sentiment.</a:t>
            </a:r>
          </a:p>
          <a:p>
            <a:pPr>
              <a:spcAft>
                <a:spcPts val="12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• Custom-collected dataset of 328 student participants containing validated chronic burnout labels.</a:t>
            </a:r>
          </a:p>
          <a:p>
            <a:pPr>
              <a:spcAft>
                <a:spcPts val="12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• Non-intrusive edge tracking: live webcam scans (Mediapipe) and audio recording directly inside the browser.</a:t>
            </a:r>
          </a:p>
          <a:p>
            <a:pPr>
              <a:spcAft>
                <a:spcPts val="12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• Stepped-care output: yields an objective 0–100 score with 5 severity tiers and a seeded CBT Chatbot controller.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Proposed Methodology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FFFFFF"/>
                </a:solidFill>
                <a:latin typeface="Calibri"/>
              </a:defRPr>
            </a:pPr>
            <a:r>
              <a:t>1. Multimodal Data Collection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r>
              <a:t>  • Questionnaire: 5-question Likert scale.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r>
              <a:t>  • Visual: 20-sec webcam recording (Mediapipe landmarks).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r>
              <a:t>  • Acoustic: 10-sec voice sentiment (microphone).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1550" b="1">
                <a:solidFill>
                  <a:srgbClr val="FFFFFF"/>
                </a:solidFill>
                <a:latin typeface="Calibri"/>
              </a:defRPr>
            </a:pPr>
            <a:r>
              <a:t>2. Preprocessing &amp; Fusion Pipeline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r>
              <a:t>  • Consolidated into a unified 18-feature vector.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r>
              <a:t>  • StandardScaler normalization applied.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r>
              <a:t>  • Stratified train/test split (80% / 20%).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1550" b="1">
                <a:solidFill>
                  <a:srgbClr val="FFFFFF"/>
                </a:solidFill>
                <a:latin typeface="Calibri"/>
              </a:defRPr>
            </a:pPr>
            <a:r>
              <a:t>3. ML Classification &amp; Scoring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r>
              <a:t>  • CatBoost Regressor maps features to the continuous target.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r>
              <a:t>  • Output: Objective 0–100 Burnout Score.</a:t>
            </a:r>
          </a:p>
          <a:p>
            <a:pPr>
              <a:spcAft>
                <a:spcPts val="1000"/>
              </a:spcAft>
              <a:defRPr sz="1550">
                <a:solidFill>
                  <a:srgbClr val="B5B7CD"/>
                </a:solidFill>
                <a:latin typeface="Calibri"/>
              </a:defRPr>
            </a:pPr>
            <a:r>
              <a:t>  • Mapped to 5 severity levels for personalized coping plans.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Edge Feature Extraction (No-Hardware Biometrics)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Webcam Facial Tracking (Mediapipe &amp; OpenCV)</a:t>
            </a:r>
          </a:p>
          <a:p>
            <a:pPr>
              <a:spcAft>
                <a:spcPts val="3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  • Eye Aspect Ratio (EAR) captures blink frequencies, flutter, and drowsiness anomalies.</a:t>
            </a:r>
          </a:p>
          <a:p>
            <a:pPr>
              <a:spcAft>
                <a:spcPts val="3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  • Mouth Aspect Ratio (MAR) measures jaw tension, stress yawning, and structural tightness.</a:t>
            </a:r>
          </a:p>
          <a:p>
            <a:pPr>
              <a:spcAft>
                <a:spcPts val="3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  • Real-time facial expressions categorized into positive, neutral, and negative state percentages.</a:t>
            </a:r>
          </a:p>
          <a:p>
            <a:pPr>
              <a:spcAft>
                <a:spcPts val="3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Microphone Voice Analysis (Speech API &amp; VADER)</a:t>
            </a:r>
          </a:p>
          <a:p>
            <a:pPr>
              <a:spcAft>
                <a:spcPts val="3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  • Speech-to-Text transcripter decodes student speech parameters on edge.</a:t>
            </a:r>
          </a:p>
          <a:p>
            <a:pPr>
              <a:spcAft>
                <a:spcPts val="3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t>  • VADER Lexicon engine computes compound sentiment scores (valency range: -1.0 to +1.0) of spoken statements.</a:t>
            </a:r>
          </a:p>
        </p:txBody>
      </p:sp>
      <p:pic>
        <p:nvPicPr>
          <p:cNvPr id="7" name="Picture 6" descr="diagnostic_terminal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49039"/>
            <a:ext cx="4937760" cy="2743200"/>
          </a:xfrm>
          <a:prstGeom prst="rect">
            <a:avLst/>
          </a:prstGeom>
        </p:spPr>
      </p:pic>
      <p:pic>
        <p:nvPicPr>
          <p:cNvPr id="8" name="Picture 7" descr="diagnostic_terminal_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49039"/>
            <a:ext cx="4937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9120" y="651486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Dataset Description &amp; Modalities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6637"/>
            <a:ext cx="1280160" cy="1188720"/>
          </a:xfrm>
          <a:prstGeom prst="rect">
            <a:avLst/>
          </a:prstGeom>
          <a:solidFill>
            <a:srgbClr val="13141F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/>
          <a:lstStyle/>
          <a:p>
            <a:pPr algn="ctr">
              <a:defRPr sz="2600" b="1">
                <a:solidFill>
                  <a:srgbClr val="00F2FE"/>
                </a:solidFill>
                <a:latin typeface="Segoe UI"/>
              </a:defRPr>
            </a:pPr>
            <a:r>
              <a:rPr lang="en-US" dirty="0"/>
              <a:t>10K+</a:t>
            </a:r>
            <a:endParaRPr dirty="0"/>
          </a:p>
          <a:p>
            <a:pPr algn="ctr">
              <a:defRPr sz="1000" b="1">
                <a:solidFill>
                  <a:srgbClr val="B5B7CD"/>
                </a:solidFill>
                <a:latin typeface="Calibri"/>
              </a:defRPr>
            </a:pPr>
            <a:r>
              <a:rPr dirty="0"/>
              <a:t>Total Participants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486637"/>
            <a:ext cx="1280160" cy="1188720"/>
          </a:xfrm>
          <a:prstGeom prst="rect">
            <a:avLst/>
          </a:prstGeom>
          <a:solidFill>
            <a:srgbClr val="13141F"/>
          </a:solidFill>
          <a:ln w="19050">
            <a:solidFill>
              <a:srgbClr val="845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/>
          <a:lstStyle/>
          <a:p>
            <a:pPr algn="ctr">
              <a:defRPr sz="2600" b="1">
                <a:solidFill>
                  <a:srgbClr val="8455EF"/>
                </a:solidFill>
                <a:latin typeface="Segoe UI"/>
              </a:defRPr>
            </a:pPr>
            <a:r>
              <a:rPr dirty="0"/>
              <a:t>3</a:t>
            </a:r>
          </a:p>
          <a:p>
            <a:pPr algn="ctr">
              <a:defRPr sz="1000" b="1">
                <a:solidFill>
                  <a:srgbClr val="B5B7CD"/>
                </a:solidFill>
                <a:latin typeface="Calibri"/>
              </a:defRPr>
            </a:pPr>
            <a:r>
              <a:rPr dirty="0"/>
              <a:t>Data Modalities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486637"/>
            <a:ext cx="1280160" cy="1188720"/>
          </a:xfrm>
          <a:prstGeom prst="rect">
            <a:avLst/>
          </a:prstGeom>
          <a:solidFill>
            <a:srgbClr val="13141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91440" rIns="0" bIns="0" rtlCol="0" anchor="ctr"/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95.76%</a:t>
            </a:r>
          </a:p>
          <a:p>
            <a:pPr algn="ctr">
              <a:defRPr sz="1000" b="1">
                <a:solidFill>
                  <a:srgbClr val="B5B7CD"/>
                </a:solidFill>
                <a:latin typeface="Calibri"/>
              </a:defRPr>
            </a:pPr>
            <a:r>
              <a:t>Model R²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17115"/>
            <a:ext cx="5669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rPr dirty="0"/>
              <a:t>Dataset Features Summary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r>
              <a:rPr dirty="0"/>
              <a:t>  • Survey (Q1–Q5): Likert scale metrics capturing exhaustion, detachment, avoidance, academic pride, and outcome recognition.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r>
              <a:rPr dirty="0"/>
              <a:t>  • Survey (Q6 / Label): Single-item validated chronic burnout scale mapping to 5 classes (0.0 to 4.0).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r>
              <a:rPr dirty="0"/>
              <a:t>  • Facial Features: Eye fatigue (Avg EAR), jaw tension (Avg MAR), and expression distribution (Positive, Neutral, Negative %).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r>
              <a:rPr dirty="0"/>
              <a:t>  • Voice Features: Spoken valence sentiment scores via VADER lexicon-based sentiment analysis.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1280160"/>
          <a:ext cx="51206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Modality</a:t>
                      </a:r>
                    </a:p>
                  </a:txBody>
                  <a:tcPr>
                    <a:solidFill>
                      <a:srgbClr val="8455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8455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845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Survey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Q1–Q5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Likert scale (0–4) on burnout symptomatology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Survey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Q6 (Label)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Validated single-item chronic burnout index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Facial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Avg EAR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Eye Aspect Ratio (fatigue/blink rate)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Facial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Avg MAR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Mouth Aspect Ratio (tension/jaw tightness)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Facial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Emotion %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Positive / Neutral / Negative face percentage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Voice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VADER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5B7CD"/>
                          </a:solidFill>
                          <a:latin typeface="Calibri"/>
                        </a:defRPr>
                      </a:pPr>
                      <a:r>
                        <a:t>Compound spoken valence sentiment scores</a:t>
                      </a:r>
                    </a:p>
                  </a:txBody>
                  <a:tcPr>
                    <a:solidFill>
                      <a:srgbClr val="13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Experimental Results: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71773"/>
            <a:ext cx="585216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Regression Model Benchmarks (5-Fold CV)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rPr dirty="0"/>
              <a:t>We compared multiple regression architectures to predict the continuous burnout index on our student dataset: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Support Vector Regressor (SVR)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  Mean R² Score: 92.95%  |  Mean RMSE: 0.2227  |  Mean MAE: 0.1719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Random Forest Regressor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  Mean R² Score: 95.32%  |  Mean RMSE: 0.1805  |  Mean MAE: 0.1444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CatBoost</a:t>
            </a:r>
            <a:r>
              <a:rPr dirty="0"/>
              <a:t> Regressor (Ours — Final Model)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  Mean R² Score: 95.76%  |  Mean RMSE: 0.1727  |  Mean MAE: 0.1378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rPr dirty="0"/>
              <a:t>    Consistently achieves the highest continuous prediction performance with standard error below 0.18.</a:t>
            </a:r>
          </a:p>
        </p:txBody>
      </p:sp>
      <p:pic>
        <p:nvPicPr>
          <p:cNvPr id="7" name="Picture 6" descr="cross_validation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94560"/>
            <a:ext cx="49377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29555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Explainable AI: Feature Importance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3955"/>
            <a:ext cx="585216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Predictive Weights Validation (Regression)</a:t>
            </a:r>
          </a:p>
          <a:p>
            <a:pPr>
              <a:spcAft>
                <a:spcPts val="8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rPr dirty="0" err="1"/>
              <a:t>CatBoost</a:t>
            </a:r>
            <a:r>
              <a:rPr dirty="0"/>
              <a:t> feature weighting lists the contribution of inputs to the continuous burnout score target:</a:t>
            </a:r>
          </a:p>
          <a:p>
            <a:pPr>
              <a:spcAft>
                <a:spcPts val="8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Consolidated Survey (</a:t>
            </a:r>
            <a:r>
              <a:rPr dirty="0" err="1"/>
              <a:t>Survey_Sum</a:t>
            </a:r>
            <a:r>
              <a:rPr dirty="0"/>
              <a:t>): Ranks #1 (weight: 77.70%).</a:t>
            </a:r>
          </a:p>
          <a:p>
            <a:pPr>
              <a:spcAft>
                <a:spcPts val="8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rPr dirty="0"/>
              <a:t>    Directly represents the baseline questionnaire severity score.</a:t>
            </a:r>
          </a:p>
          <a:p>
            <a:pPr>
              <a:spcAft>
                <a:spcPts val="8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Biometric &amp; Spoken Feature Refinement (22.30% cumulative):</a:t>
            </a:r>
          </a:p>
          <a:p>
            <a:pPr>
              <a:spcAft>
                <a:spcPts val="800"/>
              </a:spcAft>
              <a:defRPr sz="1300">
                <a:solidFill>
                  <a:srgbClr val="B5B7CD"/>
                </a:solidFill>
                <a:latin typeface="Calibri"/>
              </a:defRPr>
            </a:pPr>
            <a:r>
              <a:rPr dirty="0"/>
              <a:t>    Fine-tunes the baseline score to account for objective biological fatigue: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    - Progress Pride (Q4_inv): 3.85% (Ranks #2)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    - Meaningful Outcomes (Q5_inv): 3.41% (Ranks #3)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    - Social Avoidance (Q3): 2.22% (Ranks #4)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    - Vocal Negative Tone (</a:t>
            </a:r>
            <a:r>
              <a:rPr dirty="0" err="1"/>
              <a:t>Sentiment_Neg</a:t>
            </a:r>
            <a:r>
              <a:rPr dirty="0"/>
              <a:t>): 1.95% (Ranks #6)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    - Mouth Aspect Ratio (</a:t>
            </a:r>
            <a:r>
              <a:rPr dirty="0" err="1"/>
              <a:t>Avg_MAR</a:t>
            </a:r>
            <a:r>
              <a:rPr dirty="0"/>
              <a:t>): 1.29% (Ranks #7)</a:t>
            </a:r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6835"/>
            <a:ext cx="49377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90226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MindHaven-CBT: The Empathetic AI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4626"/>
            <a:ext cx="5486400" cy="4142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rPr dirty="0"/>
              <a:t>Fine-Tuned Cognitive Therapy Core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r>
              <a:rPr dirty="0"/>
              <a:t>The client portal integrates a context-aware chatbot specially trained to serve student mental wellness needs offline: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Transfer Learning &amp; SFT: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r>
              <a:rPr dirty="0"/>
              <a:t>    Qwen base LLM fine-tuned offline on real-world therapist responses (</a:t>
            </a:r>
            <a:r>
              <a:rPr dirty="0" err="1"/>
              <a:t>CounselChat</a:t>
            </a:r>
            <a:r>
              <a:rPr dirty="0"/>
              <a:t> + Mental Health FAQ) using </a:t>
            </a:r>
            <a:r>
              <a:rPr dirty="0" err="1"/>
              <a:t>QLoRA</a:t>
            </a:r>
            <a:r>
              <a:rPr dirty="0"/>
              <a:t> adapters.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CBT Empathetic Guidelines: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r>
              <a:rPr dirty="0"/>
              <a:t>    Identifies cognitive distortions (catastrophizing, academic imposter syndrome) to guide the student toward structured reflection.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Safety Guardrail Layer:</a:t>
            </a:r>
          </a:p>
          <a:p>
            <a:pPr>
              <a:spcAft>
                <a:spcPts val="800"/>
              </a:spcAft>
              <a:defRPr sz="1350">
                <a:solidFill>
                  <a:srgbClr val="B5B7CD"/>
                </a:solidFill>
                <a:latin typeface="Calibri"/>
              </a:defRPr>
            </a:pPr>
            <a:r>
              <a:rPr dirty="0"/>
              <a:t>    Includes automatic distress detection to flag severe text sequences and instantly route users to university wellness contacts.</a:t>
            </a:r>
          </a:p>
        </p:txBody>
      </p:sp>
      <p:pic>
        <p:nvPicPr>
          <p:cNvPr id="7" name="Picture 6" descr="telemetry_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7506"/>
            <a:ext cx="5303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21398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Swasthya Integration: Biometric Context Seeding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35798"/>
            <a:ext cx="54864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Empathetic Context Injection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rPr dirty="0"/>
              <a:t>Traditional wellness apps treat chatbots as disconnected conversational loops. </a:t>
            </a:r>
            <a:r>
              <a:rPr dirty="0" err="1"/>
              <a:t>MindHaven</a:t>
            </a:r>
            <a:r>
              <a:rPr dirty="0"/>
              <a:t> seeds context before text begins: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Automated Prompt Seeding: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rPr dirty="0"/>
              <a:t>    Prior to launching, the chatbot's system instructions are dynamically seeded with the latest assessment parameters (burnout score, EAR/MAR fatigue metrics, expression distribution, and voice sentiment).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Biometric Self-Awareness: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rPr dirty="0"/>
              <a:t>    The AI companion knows exactly why the user scored a 3.2/4.0 (e.g. noticing eye-fatigue and negative tone) and references this to deliver structured Cognitive Behavioral Therapy suggestions.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Stepped-Care Exercises: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r>
              <a:rPr dirty="0"/>
              <a:t>    Integrates directly with the Pranayama Studio breathing orb to guide students through deep stress recovery cycles.</a:t>
            </a:r>
          </a:p>
        </p:txBody>
      </p:sp>
      <p:pic>
        <p:nvPicPr>
          <p:cNvPr id="7" name="Picture 6" descr="pranayama_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18678"/>
            <a:ext cx="5303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0566"/>
            <a:ext cx="9144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Conclusion &amp;</a:t>
            </a:r>
            <a:r>
              <a:rPr lang="en-US" dirty="0"/>
              <a:t> </a:t>
            </a:r>
            <a:r>
              <a:rPr dirty="0"/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84966"/>
            <a:ext cx="54864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Presentation Key Takeaways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Multimodal Fusion: First system to combine psychometric, visual (EAR/MAR), and voice (VADER) in one non-intrusive student wellness tool.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Proven Results: </a:t>
            </a:r>
            <a:r>
              <a:rPr dirty="0" err="1"/>
              <a:t>CatBoost</a:t>
            </a:r>
            <a:r>
              <a:rPr dirty="0"/>
              <a:t> model yields 78% classification accuracy, and continuous regression model achieves 95.76% R² variance mapping.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Actionable Care: Incorporates </a:t>
            </a:r>
            <a:r>
              <a:rPr dirty="0" err="1"/>
              <a:t>glassmorphic</a:t>
            </a:r>
            <a:r>
              <a:rPr dirty="0"/>
              <a:t> CBT companion and expanding breathing orb for immediate stress reset.</a:t>
            </a:r>
          </a:p>
          <a:p>
            <a:pPr>
              <a:spcAft>
                <a:spcPts val="1000"/>
              </a:spcAft>
              <a:defRPr sz="1400">
                <a:solidFill>
                  <a:srgbClr val="B5B7CD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Deployment Roadmap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Phase 1: Retraining: Expand the 328-participant dataset across demographics.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Phase 2: Physiology: Integrate heart rate variance (HRV via photoplethysmography).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Phase 3: Mobile Apps: Launch real-time edge wellness log applications.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 • Phase 4: University Pilot: Implement automated student support trials.</a:t>
            </a:r>
          </a:p>
        </p:txBody>
      </p:sp>
      <p:pic>
        <p:nvPicPr>
          <p:cNvPr id="7" name="Picture 6" descr="telemet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67846"/>
            <a:ext cx="5303520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65760"/>
            <a:ext cx="914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00F2FE"/>
                </a:solidFill>
                <a:latin typeface="Share Tech Mono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45752" cy="4389120"/>
          </a:xfrm>
          <a:prstGeom prst="rect">
            <a:avLst/>
          </a:prstGeom>
          <a:solidFill>
            <a:srgbClr val="13141F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Ins="457200" bIns="457200" rtlCol="0" anchor="ctr"/>
          <a:lstStyle/>
          <a:p>
            <a:pPr algn="ctr">
              <a:spcAft>
                <a:spcPts val="2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Questions &amp; Discussion Welcome</a:t>
            </a:r>
          </a:p>
          <a:p>
            <a:pPr algn="ctr">
              <a:spcAft>
                <a:spcPts val="1800"/>
              </a:spcAft>
              <a:defRPr sz="1800" b="1">
                <a:solidFill>
                  <a:srgbClr val="8455EF"/>
                </a:solidFill>
                <a:latin typeface="Segoe UI"/>
              </a:defRPr>
            </a:pPr>
            <a:r>
              <a:rPr dirty="0"/>
              <a:t>Presenter: Kritika Ghosh</a:t>
            </a:r>
          </a:p>
          <a:p>
            <a:pPr algn="ctr">
              <a:spcAft>
                <a:spcPts val="800"/>
              </a:spcAft>
              <a:defRPr sz="1400">
                <a:solidFill>
                  <a:srgbClr val="00F2FE"/>
                </a:solidFill>
                <a:latin typeface="Share Tech Mono"/>
              </a:defRPr>
            </a:pPr>
            <a:r>
              <a:rPr dirty="0"/>
              <a:t>GitHub Repository: </a:t>
            </a:r>
            <a:r>
              <a:rPr lang="en-IN" dirty="0"/>
              <a:t>https://github.com/kritika-ghosh/MindHaven</a:t>
            </a:r>
            <a:endParaRPr dirty="0"/>
          </a:p>
          <a:p>
            <a:pPr algn="ctr">
              <a:spcAft>
                <a:spcPts val="2800"/>
              </a:spcAft>
              <a:defRPr sz="1400">
                <a:solidFill>
                  <a:srgbClr val="00F2FE"/>
                </a:solidFill>
                <a:latin typeface="Share Tech Mono"/>
              </a:defRPr>
            </a:pPr>
            <a:r>
              <a:rPr dirty="0"/>
              <a:t>Live Demo Space: </a:t>
            </a:r>
            <a:r>
              <a:rPr lang="en-IN" dirty="0">
                <a:hlinkClick r:id="rId2"/>
              </a:rPr>
              <a:t>https://mind-haven-zeta.vercel.app/</a:t>
            </a:r>
            <a:endParaRPr lang="en-IN" dirty="0"/>
          </a:p>
          <a:p>
            <a:pPr algn="ctr">
              <a:spcAft>
                <a:spcPts val="2800"/>
              </a:spcAft>
              <a:defRPr sz="1400">
                <a:solidFill>
                  <a:srgbClr val="00F2FE"/>
                </a:solidFill>
                <a:latin typeface="Share Tech Mono"/>
              </a:defRPr>
            </a:pPr>
            <a:r>
              <a:rPr dirty="0"/>
              <a:t>SWASTHYA Track Submission  |  Build for Good Hackathon  |  School of CSE &amp; AI, VIT Bhopal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1416</Words>
  <Application>Microsoft Office PowerPoint</Application>
  <PresentationFormat>Widescreen</PresentationFormat>
  <Paragraphs>166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kri.kritika.ghosh@gmail.com</cp:lastModifiedBy>
  <cp:revision>2</cp:revision>
  <dcterms:created xsi:type="dcterms:W3CDTF">2013-01-27T09:14:16Z</dcterms:created>
  <dcterms:modified xsi:type="dcterms:W3CDTF">2026-06-23T15:07:05Z</dcterms:modified>
  <cp:category/>
</cp:coreProperties>
</file>